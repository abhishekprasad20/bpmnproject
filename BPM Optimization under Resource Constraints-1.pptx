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DM Sans" pitchFamily="34"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topic hai Business Process Modeling aur Optimization under Resource Constraints. Ek line me: kisi process ko model karke limited resources (log, machines, budget) ko best tareeke se allocate karna. Flow: pehle problem, phir solution, ek chhota example, cost vs time trade-off, related papers, aur end me abhi tak ka progress aur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simple hai: kisi bhi process (jaise bank loan approval, hospital, delivery) me tasks hote hain jinko karne ke liye limited resources chahiye hote hain - log, machines, budget. Demand zyada aur resources kam ho to cases queue me wait karte hain, cycle time badhta hai aur cost bhi. Teen main dikkatein: (1) resources limited hain, (2) cost aur time ek doosre ke against kaam karte hain - resources badhao to time kam hota hai par cost badhti hai, (3) analyst manually try karta hai, saare combinations test karna possible nahi. Isliye humein process ko model karke best resource allocation nikalna hai, constraints ke andar.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ka flow: (1) Model - process ko BPMN me draw karo, tasks, roles aur rules ke saath. (2) Simulate - arrival rate, task duration, resource calendars daal ke simulation chalao, isse bottleneck dikhta hai (jahan utilisation zyada aur waiting zyada). (3) Optimise - constraints ke andar best allocation dhoondo. Constraints: har role ke kitne log, working hours, budget cap, skills. Objective: cycle time aur cost dono kam karna. Dono conflict karte hain isliye ek single answer nahi milta, Pareto set milta hai (trade-off options). Method: NSGA-II, ek multi-objective genetic algorithm. Ye population of allocations banata hai, simulation se har ek ka cost aur time naapta hai, aur best trade-offs aage badhata hai. Reinforcement learning aur hill climbing future work / alternatives hain. (4) Evaluate - to-be ko as-is se compare karo waiting time, cost, utilisation par. Agar poocha jaye: ek chhota example process (3-4 tasks, 2-3 roles) leke ye dikha sakte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ek simple example hai taaki idea clear ho jaye. Loan approval me 4 tasks hain: application receive karna, documents check karna, risk assess karna, aur approve karna. 3 roles hain: clerk, analyst, manager. Sawal ye hai ki har role ke kitne log rakhein. Agar har role ke 1 se 5 log ho sakte hain to 5 x 5 x 5 = 125 combinations ho gaye. Real process me tasks aur roles zyada hote hain, isliye har combination manually test karna possible nahi. Isiliye simulation aur optimisation chahiye. Ye example sirf samjhane ke liye hai, real data nahi hai - ye clearly bol 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chart illustrative sketch hai, measured result nahi - ye clearly bolna. Idea: har point ek resource allocation hai. X axis par cost, Y axis par cycle time. Kuch allocations doosron se strictly worse hain (zyada slow aur zyada costly) - ye grey points hain. Orange points best trade-offs hain, inhe Pareto set kehte hain. A sabse sasta par slow hai, C sabse fast par mehnga, B beech ka. NSGA-II ye poora set deta hai, aur decision maker apne budget ke hisaab se point chunta hai. Agar poocha jaye NSGA-II kyun: kyunki ye multi-objective hai aur ek hi run me poora trade-off set de deta hai, jabki weighted sum se sirf ek answer milta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papers Google Scholar par title search karke mil jayenge. Sabse pehle survey (Pufahl et al.) padh lo - usme pura overview hai ki resource allocation ke kaun kaun se approaches hain (rule-based, heuristics, learning). Frontiers 2023 - event logs se simulation model bana kar NSGA-II se multi-objective optimal allocation (hamare solution se seedha match). Optimos - tool jo BPMN model + constraints leke allocation aur timetable explore karta hai. Evaluation me bas itna bolna kaafi hai: problem kya hai, kaun se approaches hain (simulation + heuristics/GA/RL), aur hum konsa approach 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batana hai. Done: problem define kiya, objectives (cycle time aur cost) aur constraints (headcount, working hours, budget, skills) tay kiye, literature survey kiya (3 key papers), aur method choose kiya: BPMN model, simulation, aur NSGA-II optimisation. Next: ek toy process (loan approval) model karna, chhota simulator likhna, aur uspar resource allocations try karna. Later: NSGA-II se Pareto set nikalna, real event log par extend karna, aur hill climbing aur reinforcement learning se compare karna. Agar poocha jaye ki implementation ho gaya kya: abhi nahi, design aur literature complete hai, prototype agla step hai. Ye sach bolna better hai, panel ko clear plan dikhna chahiye.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7620"/>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73580"/>
            <a:ext cx="10566400" cy="407162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7620"/>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73580"/>
            <a:ext cx="10566400" cy="407162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1653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59E6B"/>
                </a:solidFill>
                <a:latin typeface="DM Sans" pitchFamily="34" charset="0"/>
                <a:ea typeface="DM Sans" pitchFamily="34" charset="-122"/>
                <a:cs typeface="DM Sans" pitchFamily="34" charset="-120"/>
              </a:rPr>
              <a:t>PROJECT EVALUATION</a:t>
            </a:r>
            <a:endParaRPr lang="en-US" sz="1400" dirty="0"/>
          </a:p>
        </p:txBody>
      </p:sp>
      <p:sp>
        <p:nvSpPr>
          <p:cNvPr id="3" name="Text 1"/>
          <p:cNvSpPr/>
          <p:nvPr>
            <p:ph type="title"/>
          </p:nvPr>
        </p:nvSpPr>
        <p:spPr>
          <a:xfrm>
            <a:off x="812800" y="266827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6F3EC"/>
                </a:solidFill>
                <a:latin typeface="DM Sans" pitchFamily="34" charset="0"/>
                <a:ea typeface="DM Sans" pitchFamily="34" charset="-122"/>
                <a:cs typeface="DM Sans" pitchFamily="34" charset="-120"/>
              </a:rPr>
              <a:t>Business Process Modeling and Optimization under Resource Constraints</a:t>
            </a:r>
            <a:endParaRPr lang="en-US" sz="4000" dirty="0"/>
          </a:p>
        </p:txBody>
      </p:sp>
      <p:sp>
        <p:nvSpPr>
          <p:cNvPr id="4" name="Shape 2"/>
          <p:cNvSpPr/>
          <p:nvPr/>
        </p:nvSpPr>
        <p:spPr>
          <a:xfrm>
            <a:off x="812800" y="4039870"/>
            <a:ext cx="762000" cy="38100"/>
          </a:xfrm>
          <a:prstGeom prst="rect">
            <a:avLst/>
          </a:prstGeom>
          <a:solidFill>
            <a:srgbClr val="F59E6B"/>
          </a:solidFill>
          <a:ln/>
        </p:spPr>
      </p:sp>
      <p:sp>
        <p:nvSpPr>
          <p:cNvPr id="5" name="Text 3"/>
          <p:cNvSpPr/>
          <p:nvPr/>
        </p:nvSpPr>
        <p:spPr>
          <a:xfrm>
            <a:off x="812800" y="440817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2D8"/>
                </a:solidFill>
                <a:latin typeface="DM Sans" pitchFamily="34" charset="0"/>
                <a:ea typeface="DM Sans" pitchFamily="34" charset="-122"/>
                <a:cs typeface="DM Sans" pitchFamily="34" charset="-120"/>
              </a:rPr>
              <a:t>Indian Institute of Information Technology, Allahabad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2410C"/>
                </a:solidFill>
                <a:latin typeface="DM Sans" pitchFamily="34" charset="0"/>
                <a:ea typeface="DM Sans" pitchFamily="34" charset="-122"/>
                <a:cs typeface="DM Sans" pitchFamily="34" charset="-120"/>
              </a:rPr>
              <a:t>PROBLEM STATEMENT</a:t>
            </a:r>
            <a:endParaRPr lang="en-US" sz="1400" dirty="0"/>
          </a:p>
        </p:txBody>
      </p:sp>
      <p:sp>
        <p:nvSpPr>
          <p:cNvPr id="3" name="Text 1"/>
          <p:cNvSpPr/>
          <p:nvPr>
            <p:ph type="title"/>
          </p:nvPr>
        </p:nvSpPr>
        <p:spPr>
          <a:xfrm>
            <a:off x="812800" y="129032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Business Process Modeling and Optimization under Resource Constraints</a:t>
            </a:r>
            <a:endParaRPr lang="en-US" sz="3200" dirty="0"/>
          </a:p>
        </p:txBody>
      </p:sp>
      <p:sp>
        <p:nvSpPr>
          <p:cNvPr id="4" name="Text 2"/>
          <p:cNvSpPr/>
          <p:nvPr/>
        </p:nvSpPr>
        <p:spPr>
          <a:xfrm>
            <a:off x="812800" y="2413000"/>
            <a:ext cx="10883392"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13D"/>
                </a:solidFill>
                <a:latin typeface="DM Sans" pitchFamily="34" charset="0"/>
                <a:ea typeface="DM Sans" pitchFamily="34" charset="-122"/>
                <a:cs typeface="DM Sans" pitchFamily="34" charset="-120"/>
              </a:rPr>
              <a:t>A business process is a chain of tasks that need limited resources: people, machines and budget. When demand is higher than capacity, waiting time and cost grow. We must model the process and decide how to allocate resources within the limits.</a:t>
            </a:r>
            <a:endParaRPr lang="en-US" sz="1700" dirty="0"/>
          </a:p>
        </p:txBody>
      </p:sp>
      <p:sp>
        <p:nvSpPr>
          <p:cNvPr id="5" name="Shape 3"/>
          <p:cNvSpPr/>
          <p:nvPr/>
        </p:nvSpPr>
        <p:spPr>
          <a:xfrm>
            <a:off x="815975" y="3551555"/>
            <a:ext cx="3380264" cy="1609090"/>
          </a:xfrm>
          <a:prstGeom prst="roundRect">
            <a:avLst>
              <a:gd name="adj" fmla="val 6117"/>
            </a:avLst>
          </a:prstGeom>
          <a:solidFill>
            <a:srgbClr val="FDFBF7"/>
          </a:solidFill>
          <a:ln w="6350">
            <a:solidFill>
              <a:srgbClr val="E4DFD3"/>
            </a:solidFill>
            <a:prstDash val="solid"/>
          </a:ln>
        </p:spPr>
      </p:sp>
      <p:sp>
        <p:nvSpPr>
          <p:cNvPr id="6" name="Text 4"/>
          <p:cNvSpPr/>
          <p:nvPr/>
        </p:nvSpPr>
        <p:spPr>
          <a:xfrm>
            <a:off x="1071880" y="380746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Limited resources</a:t>
            </a:r>
            <a:endParaRPr lang="en-US" sz="1800" dirty="0"/>
          </a:p>
        </p:txBody>
      </p:sp>
      <p:sp>
        <p:nvSpPr>
          <p:cNvPr id="7" name="Text 5"/>
          <p:cNvSpPr/>
          <p:nvPr/>
        </p:nvSpPr>
        <p:spPr>
          <a:xfrm>
            <a:off x="1071880" y="4157980"/>
            <a:ext cx="295450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Few staff, machines or budget for many cases, so tasks queue up and wait.</a:t>
            </a:r>
            <a:endParaRPr lang="en-US" sz="1400" dirty="0"/>
          </a:p>
        </p:txBody>
      </p:sp>
      <p:sp>
        <p:nvSpPr>
          <p:cNvPr id="8" name="Shape 6"/>
          <p:cNvSpPr/>
          <p:nvPr/>
        </p:nvSpPr>
        <p:spPr>
          <a:xfrm>
            <a:off x="4405789" y="3551555"/>
            <a:ext cx="3380343" cy="1609090"/>
          </a:xfrm>
          <a:prstGeom prst="roundRect">
            <a:avLst>
              <a:gd name="adj" fmla="val 6117"/>
            </a:avLst>
          </a:prstGeom>
          <a:solidFill>
            <a:srgbClr val="FDFBF7"/>
          </a:solidFill>
          <a:ln w="6350">
            <a:solidFill>
              <a:srgbClr val="E4DFD3"/>
            </a:solidFill>
            <a:prstDash val="solid"/>
          </a:ln>
        </p:spPr>
      </p:sp>
      <p:sp>
        <p:nvSpPr>
          <p:cNvPr id="9" name="Text 7"/>
          <p:cNvSpPr/>
          <p:nvPr/>
        </p:nvSpPr>
        <p:spPr>
          <a:xfrm>
            <a:off x="4661694" y="380746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Cost vs time</a:t>
            </a:r>
            <a:endParaRPr lang="en-US" sz="1800" dirty="0"/>
          </a:p>
        </p:txBody>
      </p:sp>
      <p:sp>
        <p:nvSpPr>
          <p:cNvPr id="10" name="Text 8"/>
          <p:cNvSpPr/>
          <p:nvPr/>
        </p:nvSpPr>
        <p:spPr>
          <a:xfrm>
            <a:off x="4661694" y="415798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More resources cut cycle time but raise cost. The two goals pull in opposite directions.</a:t>
            </a:r>
            <a:endParaRPr lang="en-US" sz="1400" dirty="0"/>
          </a:p>
        </p:txBody>
      </p:sp>
      <p:sp>
        <p:nvSpPr>
          <p:cNvPr id="11" name="Shape 9"/>
          <p:cNvSpPr/>
          <p:nvPr/>
        </p:nvSpPr>
        <p:spPr>
          <a:xfrm>
            <a:off x="7995682" y="3551555"/>
            <a:ext cx="3380343" cy="1609090"/>
          </a:xfrm>
          <a:prstGeom prst="roundRect">
            <a:avLst>
              <a:gd name="adj" fmla="val 6117"/>
            </a:avLst>
          </a:prstGeom>
          <a:solidFill>
            <a:srgbClr val="FDFBF7"/>
          </a:solidFill>
          <a:ln w="6350">
            <a:solidFill>
              <a:srgbClr val="E4DFD3"/>
            </a:solidFill>
            <a:prstDash val="solid"/>
          </a:ln>
        </p:spPr>
      </p:sp>
      <p:sp>
        <p:nvSpPr>
          <p:cNvPr id="12" name="Text 10"/>
          <p:cNvSpPr/>
          <p:nvPr/>
        </p:nvSpPr>
        <p:spPr>
          <a:xfrm>
            <a:off x="8251587" y="380746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Trial and error</a:t>
            </a:r>
            <a:endParaRPr lang="en-US" sz="1800" dirty="0"/>
          </a:p>
        </p:txBody>
      </p:sp>
      <p:sp>
        <p:nvSpPr>
          <p:cNvPr id="13" name="Text 11"/>
          <p:cNvSpPr/>
          <p:nvPr/>
        </p:nvSpPr>
        <p:spPr>
          <a:xfrm>
            <a:off x="8251587" y="415798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Analysts change allocations by hand and cannot test every combination.</a:t>
            </a:r>
            <a:endParaRPr lang="en-US" sz="1400" dirty="0"/>
          </a:p>
        </p:txBody>
      </p:sp>
      <p:sp>
        <p:nvSpPr>
          <p:cNvPr id="14" name="Text 12"/>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DM Sans" pitchFamily="34" charset="0"/>
                <a:ea typeface="DM Sans" pitchFamily="34" charset="-122"/>
                <a:cs typeface="DM Sans" pitchFamily="34" charset="-120"/>
              </a:rPr>
              <a:t>BPM evaluation · 2 / 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59E6B"/>
                </a:solidFill>
                <a:latin typeface="DM Sans" pitchFamily="34" charset="0"/>
                <a:ea typeface="DM Sans" pitchFamily="34" charset="-122"/>
                <a:cs typeface="DM Sans" pitchFamily="34" charset="-120"/>
              </a:rPr>
              <a:t>PROPOSED SOLUTION</a:t>
            </a:r>
            <a:endParaRPr lang="en-US" sz="1400" dirty="0"/>
          </a:p>
        </p:txBody>
      </p:sp>
      <p:sp>
        <p:nvSpPr>
          <p:cNvPr id="3" name="Text 1"/>
          <p:cNvSpPr/>
          <p:nvPr>
            <p:ph type="title"/>
          </p:nvPr>
        </p:nvSpPr>
        <p:spPr>
          <a:xfrm>
            <a:off x="812800" y="12903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6F3EC"/>
                </a:solidFill>
                <a:latin typeface="DM Sans" pitchFamily="34" charset="0"/>
                <a:ea typeface="DM Sans" pitchFamily="34" charset="-122"/>
                <a:cs typeface="DM Sans" pitchFamily="34" charset="-120"/>
              </a:rPr>
              <a:t>Model, simulate, optimise, evaluate</a:t>
            </a:r>
            <a:endParaRPr lang="en-US" sz="2800" dirty="0"/>
          </a:p>
        </p:txBody>
      </p:sp>
      <p:sp>
        <p:nvSpPr>
          <p:cNvPr id="4" name="Shape 2"/>
          <p:cNvSpPr/>
          <p:nvPr/>
        </p:nvSpPr>
        <p:spPr>
          <a:xfrm>
            <a:off x="815975" y="1913255"/>
            <a:ext cx="2254250" cy="1761490"/>
          </a:xfrm>
          <a:prstGeom prst="roundRect">
            <a:avLst>
              <a:gd name="adj" fmla="val 5588"/>
            </a:avLst>
          </a:prstGeom>
          <a:solidFill>
            <a:srgbClr val="1E2F55"/>
          </a:solidFill>
          <a:ln w="6350">
            <a:solidFill>
              <a:srgbClr val="2E4373"/>
            </a:solidFill>
            <a:prstDash val="solid"/>
          </a:ln>
        </p:spPr>
      </p:sp>
      <p:sp>
        <p:nvSpPr>
          <p:cNvPr id="5" name="Text 3"/>
          <p:cNvSpPr/>
          <p:nvPr/>
        </p:nvSpPr>
        <p:spPr>
          <a:xfrm>
            <a:off x="1021080" y="2118361"/>
            <a:ext cx="18993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9E6B"/>
                </a:solidFill>
                <a:latin typeface="DM Sans" pitchFamily="34" charset="0"/>
                <a:ea typeface="DM Sans" pitchFamily="34" charset="-122"/>
                <a:cs typeface="DM Sans" pitchFamily="34" charset="-120"/>
              </a:rPr>
              <a:t>01</a:t>
            </a:r>
            <a:endParaRPr lang="en-US" sz="1300" dirty="0"/>
          </a:p>
        </p:txBody>
      </p:sp>
      <p:sp>
        <p:nvSpPr>
          <p:cNvPr id="6" name="Text 4"/>
          <p:cNvSpPr/>
          <p:nvPr/>
        </p:nvSpPr>
        <p:spPr>
          <a:xfrm>
            <a:off x="1021080" y="2425700"/>
            <a:ext cx="18993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Model</a:t>
            </a:r>
            <a:endParaRPr lang="en-US" sz="1800" dirty="0"/>
          </a:p>
        </p:txBody>
      </p:sp>
      <p:sp>
        <p:nvSpPr>
          <p:cNvPr id="7" name="Text 5"/>
          <p:cNvSpPr/>
          <p:nvPr/>
        </p:nvSpPr>
        <p:spPr>
          <a:xfrm>
            <a:off x="1021080" y="2776220"/>
            <a:ext cx="189936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B"/>
                </a:solidFill>
                <a:latin typeface="DM Sans" pitchFamily="34" charset="0"/>
                <a:ea typeface="DM Sans" pitchFamily="34" charset="-122"/>
                <a:cs typeface="DM Sans" pitchFamily="34" charset="-120"/>
              </a:rPr>
              <a:t>Draw the as-is process in BPMN with tasks, roles and rules.</a:t>
            </a:r>
            <a:endParaRPr lang="en-US" sz="1300" dirty="0"/>
          </a:p>
        </p:txBody>
      </p:sp>
      <p:pic>
        <p:nvPicPr>
          <p:cNvPr id="8" name="Image 0" descr="arrow-right">    </p:cNvPr>
          <p:cNvPicPr>
            <a:picLocks noChangeAspect="1"/>
          </p:cNvPicPr>
          <p:nvPr/>
        </p:nvPicPr>
        <p:blipFill>
          <a:blip r:embed="rId1"/>
          <a:srcRect l="0" r="0" t="0" b="0"/>
          <a:stretch/>
        </p:blipFill>
        <p:spPr>
          <a:xfrm>
            <a:off x="3175000" y="2692400"/>
            <a:ext cx="304800" cy="203200"/>
          </a:xfrm>
          <a:prstGeom prst="rect">
            <a:avLst/>
          </a:prstGeom>
        </p:spPr>
      </p:pic>
      <p:sp>
        <p:nvSpPr>
          <p:cNvPr id="9" name="Shape 6"/>
          <p:cNvSpPr/>
          <p:nvPr/>
        </p:nvSpPr>
        <p:spPr>
          <a:xfrm>
            <a:off x="3584575" y="1913255"/>
            <a:ext cx="2254250" cy="1761490"/>
          </a:xfrm>
          <a:prstGeom prst="roundRect">
            <a:avLst>
              <a:gd name="adj" fmla="val 5588"/>
            </a:avLst>
          </a:prstGeom>
          <a:solidFill>
            <a:srgbClr val="1E2F55"/>
          </a:solidFill>
          <a:ln w="6350">
            <a:solidFill>
              <a:srgbClr val="2E4373"/>
            </a:solidFill>
            <a:prstDash val="solid"/>
          </a:ln>
        </p:spPr>
      </p:sp>
      <p:sp>
        <p:nvSpPr>
          <p:cNvPr id="10" name="Text 7"/>
          <p:cNvSpPr/>
          <p:nvPr/>
        </p:nvSpPr>
        <p:spPr>
          <a:xfrm>
            <a:off x="3789680" y="2118361"/>
            <a:ext cx="18993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9E6B"/>
                </a:solidFill>
                <a:latin typeface="DM Sans" pitchFamily="34" charset="0"/>
                <a:ea typeface="DM Sans" pitchFamily="34" charset="-122"/>
                <a:cs typeface="DM Sans" pitchFamily="34" charset="-120"/>
              </a:rPr>
              <a:t>02</a:t>
            </a:r>
            <a:endParaRPr lang="en-US" sz="1300" dirty="0"/>
          </a:p>
        </p:txBody>
      </p:sp>
      <p:sp>
        <p:nvSpPr>
          <p:cNvPr id="11" name="Text 8"/>
          <p:cNvSpPr/>
          <p:nvPr/>
        </p:nvSpPr>
        <p:spPr>
          <a:xfrm>
            <a:off x="3789680" y="2425700"/>
            <a:ext cx="18993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Simulate</a:t>
            </a:r>
            <a:endParaRPr lang="en-US" sz="1800" dirty="0"/>
          </a:p>
        </p:txBody>
      </p:sp>
      <p:sp>
        <p:nvSpPr>
          <p:cNvPr id="12" name="Text 9"/>
          <p:cNvSpPr/>
          <p:nvPr/>
        </p:nvSpPr>
        <p:spPr>
          <a:xfrm>
            <a:off x="3789680" y="2776220"/>
            <a:ext cx="189936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B"/>
                </a:solidFill>
                <a:latin typeface="DM Sans" pitchFamily="34" charset="0"/>
                <a:ea typeface="DM Sans" pitchFamily="34" charset="-122"/>
                <a:cs typeface="DM Sans" pitchFamily="34" charset="-120"/>
              </a:rPr>
              <a:t>Run simulation with arrival rates, task times and resource calendars.</a:t>
            </a:r>
            <a:endParaRPr lang="en-US" sz="1300" dirty="0"/>
          </a:p>
        </p:txBody>
      </p:sp>
      <p:pic>
        <p:nvPicPr>
          <p:cNvPr id="13" name="Image 1" descr="arrow-right">    </p:cNvPr>
          <p:cNvPicPr>
            <a:picLocks noChangeAspect="1"/>
          </p:cNvPicPr>
          <p:nvPr/>
        </p:nvPicPr>
        <p:blipFill>
          <a:blip r:embed="rId2"/>
          <a:srcRect l="0" r="0" t="0" b="0"/>
          <a:stretch/>
        </p:blipFill>
        <p:spPr>
          <a:xfrm>
            <a:off x="5943600" y="2692400"/>
            <a:ext cx="304800" cy="203200"/>
          </a:xfrm>
          <a:prstGeom prst="rect">
            <a:avLst/>
          </a:prstGeom>
        </p:spPr>
      </p:pic>
      <p:sp>
        <p:nvSpPr>
          <p:cNvPr id="14" name="Shape 10"/>
          <p:cNvSpPr/>
          <p:nvPr/>
        </p:nvSpPr>
        <p:spPr>
          <a:xfrm>
            <a:off x="6353175" y="1913255"/>
            <a:ext cx="2254250" cy="1761490"/>
          </a:xfrm>
          <a:prstGeom prst="roundRect">
            <a:avLst>
              <a:gd name="adj" fmla="val 5588"/>
            </a:avLst>
          </a:prstGeom>
          <a:solidFill>
            <a:srgbClr val="1E2F55"/>
          </a:solidFill>
          <a:ln w="6350">
            <a:solidFill>
              <a:srgbClr val="2E4373"/>
            </a:solidFill>
            <a:prstDash val="solid"/>
          </a:ln>
        </p:spPr>
      </p:sp>
      <p:sp>
        <p:nvSpPr>
          <p:cNvPr id="15" name="Text 11"/>
          <p:cNvSpPr/>
          <p:nvPr/>
        </p:nvSpPr>
        <p:spPr>
          <a:xfrm>
            <a:off x="6558280" y="2118361"/>
            <a:ext cx="18993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9E6B"/>
                </a:solidFill>
                <a:latin typeface="DM Sans" pitchFamily="34" charset="0"/>
                <a:ea typeface="DM Sans" pitchFamily="34" charset="-122"/>
                <a:cs typeface="DM Sans" pitchFamily="34" charset="-120"/>
              </a:rPr>
              <a:t>03</a:t>
            </a:r>
            <a:endParaRPr lang="en-US" sz="1300" dirty="0"/>
          </a:p>
        </p:txBody>
      </p:sp>
      <p:sp>
        <p:nvSpPr>
          <p:cNvPr id="16" name="Text 12"/>
          <p:cNvSpPr/>
          <p:nvPr/>
        </p:nvSpPr>
        <p:spPr>
          <a:xfrm>
            <a:off x="6558280" y="2425700"/>
            <a:ext cx="18993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Optimise</a:t>
            </a:r>
            <a:endParaRPr lang="en-US" sz="1800" dirty="0"/>
          </a:p>
        </p:txBody>
      </p:sp>
      <p:sp>
        <p:nvSpPr>
          <p:cNvPr id="17" name="Text 13"/>
          <p:cNvSpPr/>
          <p:nvPr/>
        </p:nvSpPr>
        <p:spPr>
          <a:xfrm>
            <a:off x="6558280" y="2776220"/>
            <a:ext cx="189936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B"/>
                </a:solidFill>
                <a:latin typeface="DM Sans" pitchFamily="34" charset="0"/>
                <a:ea typeface="DM Sans" pitchFamily="34" charset="-122"/>
                <a:cs typeface="DM Sans" pitchFamily="34" charset="-120"/>
              </a:rPr>
              <a:t>Search for the best resource allocation within the limits.</a:t>
            </a:r>
            <a:endParaRPr lang="en-US" sz="1300" dirty="0"/>
          </a:p>
        </p:txBody>
      </p:sp>
      <p:pic>
        <p:nvPicPr>
          <p:cNvPr id="18" name="Image 2" descr="arrow-right">    </p:cNvPr>
          <p:cNvPicPr>
            <a:picLocks noChangeAspect="1"/>
          </p:cNvPicPr>
          <p:nvPr/>
        </p:nvPicPr>
        <p:blipFill>
          <a:blip r:embed="rId3"/>
          <a:srcRect l="0" r="0" t="0" b="0"/>
          <a:stretch/>
        </p:blipFill>
        <p:spPr>
          <a:xfrm>
            <a:off x="8712200" y="2692400"/>
            <a:ext cx="304800" cy="203200"/>
          </a:xfrm>
          <a:prstGeom prst="rect">
            <a:avLst/>
          </a:prstGeom>
        </p:spPr>
      </p:pic>
      <p:sp>
        <p:nvSpPr>
          <p:cNvPr id="19" name="Shape 14"/>
          <p:cNvSpPr/>
          <p:nvPr/>
        </p:nvSpPr>
        <p:spPr>
          <a:xfrm>
            <a:off x="9121775" y="1913255"/>
            <a:ext cx="2254250" cy="1761490"/>
          </a:xfrm>
          <a:prstGeom prst="roundRect">
            <a:avLst>
              <a:gd name="adj" fmla="val 5588"/>
            </a:avLst>
          </a:prstGeom>
          <a:solidFill>
            <a:srgbClr val="1E2F55"/>
          </a:solidFill>
          <a:ln w="6350">
            <a:solidFill>
              <a:srgbClr val="2E4373"/>
            </a:solidFill>
            <a:prstDash val="solid"/>
          </a:ln>
        </p:spPr>
      </p:sp>
      <p:sp>
        <p:nvSpPr>
          <p:cNvPr id="20" name="Text 15"/>
          <p:cNvSpPr/>
          <p:nvPr/>
        </p:nvSpPr>
        <p:spPr>
          <a:xfrm>
            <a:off x="9326880" y="2118361"/>
            <a:ext cx="18993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9E6B"/>
                </a:solidFill>
                <a:latin typeface="DM Sans" pitchFamily="34" charset="0"/>
                <a:ea typeface="DM Sans" pitchFamily="34" charset="-122"/>
                <a:cs typeface="DM Sans" pitchFamily="34" charset="-120"/>
              </a:rPr>
              <a:t>04</a:t>
            </a:r>
            <a:endParaRPr lang="en-US" sz="1300" dirty="0"/>
          </a:p>
        </p:txBody>
      </p:sp>
      <p:sp>
        <p:nvSpPr>
          <p:cNvPr id="21" name="Text 16"/>
          <p:cNvSpPr/>
          <p:nvPr/>
        </p:nvSpPr>
        <p:spPr>
          <a:xfrm>
            <a:off x="9326880" y="2425700"/>
            <a:ext cx="18993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Evaluate</a:t>
            </a:r>
            <a:endParaRPr lang="en-US" sz="1800" dirty="0"/>
          </a:p>
        </p:txBody>
      </p:sp>
      <p:sp>
        <p:nvSpPr>
          <p:cNvPr id="22" name="Text 17"/>
          <p:cNvSpPr/>
          <p:nvPr/>
        </p:nvSpPr>
        <p:spPr>
          <a:xfrm>
            <a:off x="9326880" y="2776220"/>
            <a:ext cx="189936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B"/>
                </a:solidFill>
                <a:latin typeface="DM Sans" pitchFamily="34" charset="0"/>
                <a:ea typeface="DM Sans" pitchFamily="34" charset="-122"/>
                <a:cs typeface="DM Sans" pitchFamily="34" charset="-120"/>
              </a:rPr>
              <a:t>Compare to-be with as-is on waiting time, cost and utilisation.</a:t>
            </a:r>
            <a:endParaRPr lang="en-US" sz="1300" dirty="0"/>
          </a:p>
        </p:txBody>
      </p:sp>
      <p:sp>
        <p:nvSpPr>
          <p:cNvPr id="23" name="Shape 18"/>
          <p:cNvSpPr/>
          <p:nvPr/>
        </p:nvSpPr>
        <p:spPr>
          <a:xfrm>
            <a:off x="812800" y="3916045"/>
            <a:ext cx="5181600" cy="0"/>
          </a:xfrm>
          <a:prstGeom prst="line">
            <a:avLst/>
          </a:prstGeom>
          <a:noFill/>
          <a:ln w="19050">
            <a:solidFill>
              <a:srgbClr val="F59E6B"/>
            </a:solidFill>
            <a:prstDash val="solid"/>
          </a:ln>
        </p:spPr>
      </p:sp>
      <p:sp>
        <p:nvSpPr>
          <p:cNvPr id="24" name="Text 19"/>
          <p:cNvSpPr/>
          <p:nvPr/>
        </p:nvSpPr>
        <p:spPr>
          <a:xfrm>
            <a:off x="812800" y="4048761"/>
            <a:ext cx="533704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Constraints we respect</a:t>
            </a:r>
            <a:endParaRPr lang="en-US" sz="1800" dirty="0"/>
          </a:p>
        </p:txBody>
      </p:sp>
      <p:sp>
        <p:nvSpPr>
          <p:cNvPr id="25" name="Text 20"/>
          <p:cNvSpPr/>
          <p:nvPr/>
        </p:nvSpPr>
        <p:spPr>
          <a:xfrm>
            <a:off x="812800" y="4399280"/>
            <a:ext cx="53370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CEB"/>
                </a:solidFill>
                <a:latin typeface="DM Sans" pitchFamily="34" charset="0"/>
                <a:ea typeface="DM Sans" pitchFamily="34" charset="-122"/>
                <a:cs typeface="DM Sans" pitchFamily="34" charset="-120"/>
              </a:rPr>
              <a:t>Headcount per role, working hours and calendars, budget cap, and the skills of each resource.</a:t>
            </a:r>
            <a:endParaRPr lang="en-US" sz="1400" dirty="0"/>
          </a:p>
        </p:txBody>
      </p:sp>
      <p:sp>
        <p:nvSpPr>
          <p:cNvPr id="26" name="Shape 21"/>
          <p:cNvSpPr/>
          <p:nvPr/>
        </p:nvSpPr>
        <p:spPr>
          <a:xfrm>
            <a:off x="6197600" y="3916045"/>
            <a:ext cx="5181600" cy="0"/>
          </a:xfrm>
          <a:prstGeom prst="line">
            <a:avLst/>
          </a:prstGeom>
          <a:noFill/>
          <a:ln w="19050">
            <a:solidFill>
              <a:srgbClr val="F59E6B"/>
            </a:solidFill>
            <a:prstDash val="solid"/>
          </a:ln>
        </p:spPr>
      </p:sp>
      <p:sp>
        <p:nvSpPr>
          <p:cNvPr id="27" name="Text 22"/>
          <p:cNvSpPr/>
          <p:nvPr/>
        </p:nvSpPr>
        <p:spPr>
          <a:xfrm>
            <a:off x="6197600" y="4048761"/>
            <a:ext cx="533704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What we optimise</a:t>
            </a:r>
            <a:endParaRPr lang="en-US" sz="1800" dirty="0"/>
          </a:p>
        </p:txBody>
      </p:sp>
      <p:sp>
        <p:nvSpPr>
          <p:cNvPr id="28" name="Text 23"/>
          <p:cNvSpPr/>
          <p:nvPr/>
        </p:nvSpPr>
        <p:spPr>
          <a:xfrm>
            <a:off x="6197600" y="4399280"/>
            <a:ext cx="533704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CEB"/>
                </a:solidFill>
                <a:latin typeface="DM Sans" pitchFamily="34" charset="0"/>
                <a:ea typeface="DM Sans" pitchFamily="34" charset="-122"/>
                <a:cs typeface="DM Sans" pitchFamily="34" charset="-120"/>
              </a:rPr>
              <a:t>Cycle time and cost together, giving a Pareto set of allocations to choose from. Method: NSGA-II, a multi-objective genetic algorithm.</a:t>
            </a:r>
            <a:endParaRPr lang="en-US" sz="1400" dirty="0"/>
          </a:p>
        </p:txBody>
      </p:sp>
      <p:sp>
        <p:nvSpPr>
          <p:cNvPr id="29" name="Text 24"/>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8"/>
                </a:solidFill>
                <a:latin typeface="DM Sans" pitchFamily="34" charset="0"/>
                <a:ea typeface="DM Sans" pitchFamily="34" charset="-122"/>
                <a:cs typeface="DM Sans" pitchFamily="34" charset="-120"/>
              </a:rPr>
              <a:t>BPM evaluation · 3 / 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2410C"/>
                </a:solidFill>
                <a:latin typeface="DM Sans" pitchFamily="34" charset="0"/>
                <a:ea typeface="DM Sans" pitchFamily="34" charset="-122"/>
                <a:cs typeface="DM Sans" pitchFamily="34" charset="-120"/>
              </a:rPr>
              <a:t>WORKED EXAMPLE</a:t>
            </a:r>
            <a:endParaRPr lang="en-US" sz="1400" dirty="0"/>
          </a:p>
        </p:txBody>
      </p:sp>
      <p:sp>
        <p:nvSpPr>
          <p:cNvPr id="3" name="Text 1"/>
          <p:cNvSpPr/>
          <p:nvPr>
            <p:ph type="title"/>
          </p:nvPr>
        </p:nvSpPr>
        <p:spPr>
          <a:xfrm>
            <a:off x="812800" y="1264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DM Sans" pitchFamily="34" charset="0"/>
                <a:ea typeface="DM Sans" pitchFamily="34" charset="-122"/>
                <a:cs typeface="DM Sans" pitchFamily="34" charset="-120"/>
              </a:rPr>
              <a:t>Loan approval: four tasks, three roles</a:t>
            </a:r>
            <a:endParaRPr lang="en-US" sz="2800" dirty="0"/>
          </a:p>
        </p:txBody>
      </p:sp>
      <p:sp>
        <p:nvSpPr>
          <p:cNvPr id="4" name="Shape 2"/>
          <p:cNvSpPr/>
          <p:nvPr/>
        </p:nvSpPr>
        <p:spPr>
          <a:xfrm>
            <a:off x="815975" y="1862455"/>
            <a:ext cx="2254250" cy="895350"/>
          </a:xfrm>
          <a:prstGeom prst="roundRect">
            <a:avLst>
              <a:gd name="adj" fmla="val 10993"/>
            </a:avLst>
          </a:prstGeom>
          <a:solidFill>
            <a:srgbClr val="FDFBF7"/>
          </a:solidFill>
          <a:ln w="6350">
            <a:solidFill>
              <a:srgbClr val="E4DFD3"/>
            </a:solidFill>
            <a:prstDash val="solid"/>
          </a:ln>
        </p:spPr>
      </p:sp>
      <p:sp>
        <p:nvSpPr>
          <p:cNvPr id="5" name="Text 3"/>
          <p:cNvSpPr/>
          <p:nvPr/>
        </p:nvSpPr>
        <p:spPr>
          <a:xfrm>
            <a:off x="995680" y="2042161"/>
            <a:ext cx="19516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DM Sans" pitchFamily="34" charset="0"/>
                <a:ea typeface="DM Sans" pitchFamily="34" charset="-122"/>
                <a:cs typeface="DM Sans" pitchFamily="34" charset="-120"/>
              </a:rPr>
              <a:t>Receive application</a:t>
            </a:r>
            <a:endParaRPr lang="en-US" sz="1500" dirty="0"/>
          </a:p>
        </p:txBody>
      </p:sp>
      <p:sp>
        <p:nvSpPr>
          <p:cNvPr id="6" name="Text 4"/>
          <p:cNvSpPr/>
          <p:nvPr/>
        </p:nvSpPr>
        <p:spPr>
          <a:xfrm>
            <a:off x="995680" y="2346961"/>
            <a:ext cx="195168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Role: Clerk</a:t>
            </a:r>
            <a:endParaRPr lang="en-US" sz="1300" dirty="0"/>
          </a:p>
        </p:txBody>
      </p:sp>
      <p:pic>
        <p:nvPicPr>
          <p:cNvPr id="7" name="Image 0" descr="arrow-right">    </p:cNvPr>
          <p:cNvPicPr>
            <a:picLocks noChangeAspect="1"/>
          </p:cNvPicPr>
          <p:nvPr/>
        </p:nvPicPr>
        <p:blipFill>
          <a:blip r:embed="rId1"/>
          <a:srcRect l="0" r="0" t="0" b="0"/>
          <a:stretch/>
        </p:blipFill>
        <p:spPr>
          <a:xfrm>
            <a:off x="3175000" y="2208530"/>
            <a:ext cx="304800" cy="203200"/>
          </a:xfrm>
          <a:prstGeom prst="rect">
            <a:avLst/>
          </a:prstGeom>
        </p:spPr>
      </p:pic>
      <p:sp>
        <p:nvSpPr>
          <p:cNvPr id="8" name="Shape 5"/>
          <p:cNvSpPr/>
          <p:nvPr/>
        </p:nvSpPr>
        <p:spPr>
          <a:xfrm>
            <a:off x="3584575" y="1862455"/>
            <a:ext cx="2254250" cy="895350"/>
          </a:xfrm>
          <a:prstGeom prst="roundRect">
            <a:avLst>
              <a:gd name="adj" fmla="val 10993"/>
            </a:avLst>
          </a:prstGeom>
          <a:solidFill>
            <a:srgbClr val="FDFBF7"/>
          </a:solidFill>
          <a:ln w="6350">
            <a:solidFill>
              <a:srgbClr val="E4DFD3"/>
            </a:solidFill>
            <a:prstDash val="solid"/>
          </a:ln>
        </p:spPr>
      </p:sp>
      <p:sp>
        <p:nvSpPr>
          <p:cNvPr id="9" name="Text 6"/>
          <p:cNvSpPr/>
          <p:nvPr/>
        </p:nvSpPr>
        <p:spPr>
          <a:xfrm>
            <a:off x="3764280" y="2042161"/>
            <a:ext cx="19516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DM Sans" pitchFamily="34" charset="0"/>
                <a:ea typeface="DM Sans" pitchFamily="34" charset="-122"/>
                <a:cs typeface="DM Sans" pitchFamily="34" charset="-120"/>
              </a:rPr>
              <a:t>Check documents</a:t>
            </a:r>
            <a:endParaRPr lang="en-US" sz="1500" dirty="0"/>
          </a:p>
        </p:txBody>
      </p:sp>
      <p:sp>
        <p:nvSpPr>
          <p:cNvPr id="10" name="Text 7"/>
          <p:cNvSpPr/>
          <p:nvPr/>
        </p:nvSpPr>
        <p:spPr>
          <a:xfrm>
            <a:off x="3764280" y="2346961"/>
            <a:ext cx="195168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Role: Clerk</a:t>
            </a:r>
            <a:endParaRPr lang="en-US" sz="1300" dirty="0"/>
          </a:p>
        </p:txBody>
      </p:sp>
      <p:pic>
        <p:nvPicPr>
          <p:cNvPr id="11" name="Image 1" descr="arrow-right">    </p:cNvPr>
          <p:cNvPicPr>
            <a:picLocks noChangeAspect="1"/>
          </p:cNvPicPr>
          <p:nvPr/>
        </p:nvPicPr>
        <p:blipFill>
          <a:blip r:embed="rId2"/>
          <a:srcRect l="0" r="0" t="0" b="0"/>
          <a:stretch/>
        </p:blipFill>
        <p:spPr>
          <a:xfrm>
            <a:off x="5943600" y="2208530"/>
            <a:ext cx="304800" cy="203200"/>
          </a:xfrm>
          <a:prstGeom prst="rect">
            <a:avLst/>
          </a:prstGeom>
        </p:spPr>
      </p:pic>
      <p:sp>
        <p:nvSpPr>
          <p:cNvPr id="12" name="Shape 8"/>
          <p:cNvSpPr/>
          <p:nvPr/>
        </p:nvSpPr>
        <p:spPr>
          <a:xfrm>
            <a:off x="6353175" y="1862455"/>
            <a:ext cx="2254250" cy="895350"/>
          </a:xfrm>
          <a:prstGeom prst="roundRect">
            <a:avLst>
              <a:gd name="adj" fmla="val 10993"/>
            </a:avLst>
          </a:prstGeom>
          <a:solidFill>
            <a:srgbClr val="FDFBF7"/>
          </a:solidFill>
          <a:ln w="6350">
            <a:solidFill>
              <a:srgbClr val="E4DFD3"/>
            </a:solidFill>
            <a:prstDash val="solid"/>
          </a:ln>
        </p:spPr>
      </p:sp>
      <p:sp>
        <p:nvSpPr>
          <p:cNvPr id="13" name="Text 9"/>
          <p:cNvSpPr/>
          <p:nvPr/>
        </p:nvSpPr>
        <p:spPr>
          <a:xfrm>
            <a:off x="6532880" y="2042161"/>
            <a:ext cx="19516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DM Sans" pitchFamily="34" charset="0"/>
                <a:ea typeface="DM Sans" pitchFamily="34" charset="-122"/>
                <a:cs typeface="DM Sans" pitchFamily="34" charset="-120"/>
              </a:rPr>
              <a:t>Assess risk</a:t>
            </a:r>
            <a:endParaRPr lang="en-US" sz="1500" dirty="0"/>
          </a:p>
        </p:txBody>
      </p:sp>
      <p:sp>
        <p:nvSpPr>
          <p:cNvPr id="14" name="Text 10"/>
          <p:cNvSpPr/>
          <p:nvPr/>
        </p:nvSpPr>
        <p:spPr>
          <a:xfrm>
            <a:off x="6532880" y="2346961"/>
            <a:ext cx="195168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Role: Analyst</a:t>
            </a:r>
            <a:endParaRPr lang="en-US" sz="1300" dirty="0"/>
          </a:p>
        </p:txBody>
      </p:sp>
      <p:pic>
        <p:nvPicPr>
          <p:cNvPr id="15" name="Image 2" descr="arrow-right">    </p:cNvPr>
          <p:cNvPicPr>
            <a:picLocks noChangeAspect="1"/>
          </p:cNvPicPr>
          <p:nvPr/>
        </p:nvPicPr>
        <p:blipFill>
          <a:blip r:embed="rId3"/>
          <a:srcRect l="0" r="0" t="0" b="0"/>
          <a:stretch/>
        </p:blipFill>
        <p:spPr>
          <a:xfrm>
            <a:off x="8712200" y="2208530"/>
            <a:ext cx="304800" cy="203200"/>
          </a:xfrm>
          <a:prstGeom prst="rect">
            <a:avLst/>
          </a:prstGeom>
        </p:spPr>
      </p:pic>
      <p:sp>
        <p:nvSpPr>
          <p:cNvPr id="16" name="Shape 11"/>
          <p:cNvSpPr/>
          <p:nvPr/>
        </p:nvSpPr>
        <p:spPr>
          <a:xfrm>
            <a:off x="9121775" y="1862455"/>
            <a:ext cx="2254250" cy="895350"/>
          </a:xfrm>
          <a:prstGeom prst="roundRect">
            <a:avLst>
              <a:gd name="adj" fmla="val 10993"/>
            </a:avLst>
          </a:prstGeom>
          <a:solidFill>
            <a:srgbClr val="FDFBF7"/>
          </a:solidFill>
          <a:ln w="6350">
            <a:solidFill>
              <a:srgbClr val="E4DFD3"/>
            </a:solidFill>
            <a:prstDash val="solid"/>
          </a:ln>
        </p:spPr>
      </p:sp>
      <p:sp>
        <p:nvSpPr>
          <p:cNvPr id="17" name="Text 12"/>
          <p:cNvSpPr/>
          <p:nvPr/>
        </p:nvSpPr>
        <p:spPr>
          <a:xfrm>
            <a:off x="9301480" y="2042161"/>
            <a:ext cx="19516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DM Sans" pitchFamily="34" charset="0"/>
                <a:ea typeface="DM Sans" pitchFamily="34" charset="-122"/>
                <a:cs typeface="DM Sans" pitchFamily="34" charset="-120"/>
              </a:rPr>
              <a:t>Approve</a:t>
            </a:r>
            <a:endParaRPr lang="en-US" sz="1500" dirty="0"/>
          </a:p>
        </p:txBody>
      </p:sp>
      <p:sp>
        <p:nvSpPr>
          <p:cNvPr id="18" name="Text 13"/>
          <p:cNvSpPr/>
          <p:nvPr/>
        </p:nvSpPr>
        <p:spPr>
          <a:xfrm>
            <a:off x="9301480" y="2346961"/>
            <a:ext cx="195168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Role: Manager</a:t>
            </a:r>
            <a:endParaRPr lang="en-US" sz="1300" dirty="0"/>
          </a:p>
        </p:txBody>
      </p:sp>
      <p:sp>
        <p:nvSpPr>
          <p:cNvPr id="19" name="Shape 14"/>
          <p:cNvSpPr/>
          <p:nvPr/>
        </p:nvSpPr>
        <p:spPr>
          <a:xfrm>
            <a:off x="812800" y="2973705"/>
            <a:ext cx="3386614" cy="0"/>
          </a:xfrm>
          <a:prstGeom prst="line">
            <a:avLst/>
          </a:prstGeom>
          <a:noFill/>
          <a:ln w="19050">
            <a:solidFill>
              <a:srgbClr val="C2410C"/>
            </a:solidFill>
            <a:prstDash val="solid"/>
          </a:ln>
        </p:spPr>
      </p:sp>
      <p:sp>
        <p:nvSpPr>
          <p:cNvPr id="20" name="Text 15"/>
          <p:cNvSpPr/>
          <p:nvPr/>
        </p:nvSpPr>
        <p:spPr>
          <a:xfrm>
            <a:off x="812800" y="3106420"/>
            <a:ext cx="34882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Clerk</a:t>
            </a:r>
            <a:endParaRPr lang="en-US" sz="1800" dirty="0"/>
          </a:p>
        </p:txBody>
      </p:sp>
      <p:sp>
        <p:nvSpPr>
          <p:cNvPr id="21" name="Text 16"/>
          <p:cNvSpPr/>
          <p:nvPr/>
        </p:nvSpPr>
        <p:spPr>
          <a:xfrm>
            <a:off x="812800" y="3456941"/>
            <a:ext cx="348821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Many are needed and each is cheap. Handles intake and document checks.</a:t>
            </a:r>
            <a:endParaRPr lang="en-US" sz="1300" dirty="0"/>
          </a:p>
        </p:txBody>
      </p:sp>
      <p:sp>
        <p:nvSpPr>
          <p:cNvPr id="22" name="Shape 17"/>
          <p:cNvSpPr/>
          <p:nvPr/>
        </p:nvSpPr>
        <p:spPr>
          <a:xfrm>
            <a:off x="4402614" y="2973705"/>
            <a:ext cx="3386693" cy="0"/>
          </a:xfrm>
          <a:prstGeom prst="line">
            <a:avLst/>
          </a:prstGeom>
          <a:noFill/>
          <a:ln w="19050">
            <a:solidFill>
              <a:srgbClr val="C2410C"/>
            </a:solidFill>
            <a:prstDash val="solid"/>
          </a:ln>
        </p:spPr>
      </p:sp>
      <p:sp>
        <p:nvSpPr>
          <p:cNvPr id="23" name="Text 18"/>
          <p:cNvSpPr/>
          <p:nvPr/>
        </p:nvSpPr>
        <p:spPr>
          <a:xfrm>
            <a:off x="4402614" y="310642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Analyst</a:t>
            </a:r>
            <a:endParaRPr lang="en-US" sz="1800" dirty="0"/>
          </a:p>
        </p:txBody>
      </p:sp>
      <p:sp>
        <p:nvSpPr>
          <p:cNvPr id="24" name="Text 19"/>
          <p:cNvSpPr/>
          <p:nvPr/>
        </p:nvSpPr>
        <p:spPr>
          <a:xfrm>
            <a:off x="4402614" y="3456941"/>
            <a:ext cx="34882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Risk assessment takes the longest, so queues build up here.</a:t>
            </a:r>
            <a:endParaRPr lang="en-US" sz="1300" dirty="0"/>
          </a:p>
        </p:txBody>
      </p:sp>
      <p:sp>
        <p:nvSpPr>
          <p:cNvPr id="25" name="Shape 20"/>
          <p:cNvSpPr/>
          <p:nvPr/>
        </p:nvSpPr>
        <p:spPr>
          <a:xfrm>
            <a:off x="7992507" y="2973705"/>
            <a:ext cx="3386693" cy="0"/>
          </a:xfrm>
          <a:prstGeom prst="line">
            <a:avLst/>
          </a:prstGeom>
          <a:noFill/>
          <a:ln w="19050">
            <a:solidFill>
              <a:srgbClr val="C2410C"/>
            </a:solidFill>
            <a:prstDash val="solid"/>
          </a:ln>
        </p:spPr>
      </p:sp>
      <p:sp>
        <p:nvSpPr>
          <p:cNvPr id="26" name="Text 21"/>
          <p:cNvSpPr/>
          <p:nvPr/>
        </p:nvSpPr>
        <p:spPr>
          <a:xfrm>
            <a:off x="7992507" y="310642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Manager</a:t>
            </a:r>
            <a:endParaRPr lang="en-US" sz="1800" dirty="0"/>
          </a:p>
        </p:txBody>
      </p:sp>
      <p:sp>
        <p:nvSpPr>
          <p:cNvPr id="27" name="Text 22"/>
          <p:cNvSpPr/>
          <p:nvPr/>
        </p:nvSpPr>
        <p:spPr>
          <a:xfrm>
            <a:off x="7992507" y="3456941"/>
            <a:ext cx="34882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Few people and the highest cost. Gives the final approval.</a:t>
            </a:r>
            <a:endParaRPr lang="en-US" sz="1300" dirty="0"/>
          </a:p>
        </p:txBody>
      </p:sp>
      <p:sp>
        <p:nvSpPr>
          <p:cNvPr id="28" name="Text 23"/>
          <p:cNvSpPr/>
          <p:nvPr/>
        </p:nvSpPr>
        <p:spPr>
          <a:xfrm>
            <a:off x="812800" y="412242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How many clerks, analysts and managers do we need? With 1 to 5 people per role there are already 125 combinations, and real processes have far more.</a:t>
            </a:r>
            <a:endParaRPr lang="en-US" sz="1600" dirty="0"/>
          </a:p>
        </p:txBody>
      </p:sp>
      <p:sp>
        <p:nvSpPr>
          <p:cNvPr id="29" name="Text 2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DM Sans" pitchFamily="34" charset="0"/>
                <a:ea typeface="DM Sans" pitchFamily="34" charset="-122"/>
                <a:cs typeface="DM Sans" pitchFamily="34" charset="-120"/>
              </a:rPr>
              <a:t>Illustrative setup, not real data · BPM evaluation · 4 / 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59E6B"/>
                </a:solidFill>
                <a:latin typeface="DM Sans" pitchFamily="34" charset="0"/>
                <a:ea typeface="DM Sans" pitchFamily="34" charset="-122"/>
                <a:cs typeface="DM Sans" pitchFamily="34" charset="-120"/>
              </a:rPr>
              <a:t>TRADE-OFF</a:t>
            </a:r>
            <a:endParaRPr lang="en-US" sz="1400" dirty="0"/>
          </a:p>
        </p:txBody>
      </p:sp>
      <p:sp>
        <p:nvSpPr>
          <p:cNvPr id="3" name="Text 1"/>
          <p:cNvSpPr/>
          <p:nvPr>
            <p:ph type="title"/>
          </p:nvPr>
        </p:nvSpPr>
        <p:spPr>
          <a:xfrm>
            <a:off x="812800" y="126492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6F3EC"/>
                </a:solidFill>
                <a:latin typeface="DM Sans" pitchFamily="34" charset="0"/>
                <a:ea typeface="DM Sans" pitchFamily="34" charset="-122"/>
                <a:cs typeface="DM Sans" pitchFamily="34" charset="-120"/>
              </a:rPr>
              <a:t>Cost and cycle time conflict</a:t>
            </a:r>
            <a:endParaRPr lang="en-US" sz="2800" dirty="0"/>
          </a:p>
        </p:txBody>
      </p:sp>
      <p:pic>
        <p:nvPicPr>
          <p:cNvPr id="4" name="Image 0" descr="Illustrative chart of cost against cycle time. A curve of best trade-offs runs from point A, cheapest and slowest, through point B, balanced, to point C, fastest and most costly. Grey points above the curve are worse allocations.">    </p:cNvPr>
          <p:cNvPicPr>
            <a:picLocks noChangeAspect="1"/>
          </p:cNvPicPr>
          <p:nvPr/>
        </p:nvPicPr>
        <p:blipFill>
          <a:blip r:embed="rId1"/>
          <a:srcRect l="0" r="0" t="0" b="0"/>
          <a:stretch/>
        </p:blipFill>
        <p:spPr>
          <a:xfrm>
            <a:off x="812800" y="1859282"/>
            <a:ext cx="5969000" cy="3556000"/>
          </a:xfrm>
          <a:prstGeom prst="rect">
            <a:avLst/>
          </a:prstGeom>
        </p:spPr>
      </p:pic>
      <p:sp>
        <p:nvSpPr>
          <p:cNvPr id="5" name="Shape 2"/>
          <p:cNvSpPr/>
          <p:nvPr/>
        </p:nvSpPr>
        <p:spPr>
          <a:xfrm>
            <a:off x="7086600" y="1868807"/>
            <a:ext cx="4292600" cy="0"/>
          </a:xfrm>
          <a:prstGeom prst="line">
            <a:avLst/>
          </a:prstGeom>
          <a:noFill/>
          <a:ln w="19050">
            <a:solidFill>
              <a:srgbClr val="F59E6B"/>
            </a:solidFill>
            <a:prstDash val="solid"/>
          </a:ln>
        </p:spPr>
      </p:sp>
      <p:sp>
        <p:nvSpPr>
          <p:cNvPr id="6" name="Text 3"/>
          <p:cNvSpPr/>
          <p:nvPr/>
        </p:nvSpPr>
        <p:spPr>
          <a:xfrm>
            <a:off x="7086600" y="1976121"/>
            <a:ext cx="4421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A: lowest cost</a:t>
            </a:r>
            <a:endParaRPr lang="en-US" sz="1800" dirty="0"/>
          </a:p>
        </p:txBody>
      </p:sp>
      <p:sp>
        <p:nvSpPr>
          <p:cNvPr id="7" name="Text 4"/>
          <p:cNvSpPr/>
          <p:nvPr/>
        </p:nvSpPr>
        <p:spPr>
          <a:xfrm>
            <a:off x="7086600" y="2301239"/>
            <a:ext cx="44213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CEB"/>
                </a:solidFill>
                <a:latin typeface="DM Sans" pitchFamily="34" charset="0"/>
                <a:ea typeface="DM Sans" pitchFamily="34" charset="-122"/>
                <a:cs typeface="DM Sans" pitchFamily="34" charset="-120"/>
              </a:rPr>
              <a:t>Few staff, longest waiting time.</a:t>
            </a:r>
            <a:endParaRPr lang="en-US" sz="1400" dirty="0"/>
          </a:p>
        </p:txBody>
      </p:sp>
      <p:sp>
        <p:nvSpPr>
          <p:cNvPr id="8" name="Shape 5"/>
          <p:cNvSpPr/>
          <p:nvPr/>
        </p:nvSpPr>
        <p:spPr>
          <a:xfrm>
            <a:off x="7086600" y="2737486"/>
            <a:ext cx="4292600" cy="0"/>
          </a:xfrm>
          <a:prstGeom prst="line">
            <a:avLst/>
          </a:prstGeom>
          <a:noFill/>
          <a:ln w="19050">
            <a:solidFill>
              <a:srgbClr val="F59E6B"/>
            </a:solidFill>
            <a:prstDash val="solid"/>
          </a:ln>
        </p:spPr>
      </p:sp>
      <p:sp>
        <p:nvSpPr>
          <p:cNvPr id="9" name="Text 6"/>
          <p:cNvSpPr/>
          <p:nvPr/>
        </p:nvSpPr>
        <p:spPr>
          <a:xfrm>
            <a:off x="7086600" y="2844800"/>
            <a:ext cx="4421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B: balanced</a:t>
            </a:r>
            <a:endParaRPr lang="en-US" sz="1800" dirty="0"/>
          </a:p>
        </p:txBody>
      </p:sp>
      <p:sp>
        <p:nvSpPr>
          <p:cNvPr id="10" name="Text 7"/>
          <p:cNvSpPr/>
          <p:nvPr/>
        </p:nvSpPr>
        <p:spPr>
          <a:xfrm>
            <a:off x="7086600" y="3169921"/>
            <a:ext cx="44213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CEB"/>
                </a:solidFill>
                <a:latin typeface="DM Sans" pitchFamily="34" charset="0"/>
                <a:ea typeface="DM Sans" pitchFamily="34" charset="-122"/>
                <a:cs typeface="DM Sans" pitchFamily="34" charset="-120"/>
              </a:rPr>
              <a:t>A middle path between cost and speed.</a:t>
            </a:r>
            <a:endParaRPr lang="en-US" sz="1400" dirty="0"/>
          </a:p>
        </p:txBody>
      </p:sp>
      <p:sp>
        <p:nvSpPr>
          <p:cNvPr id="11" name="Shape 8"/>
          <p:cNvSpPr/>
          <p:nvPr/>
        </p:nvSpPr>
        <p:spPr>
          <a:xfrm>
            <a:off x="7086600" y="3606164"/>
            <a:ext cx="4292600" cy="0"/>
          </a:xfrm>
          <a:prstGeom prst="line">
            <a:avLst/>
          </a:prstGeom>
          <a:noFill/>
          <a:ln w="19050">
            <a:solidFill>
              <a:srgbClr val="F59E6B"/>
            </a:solidFill>
            <a:prstDash val="solid"/>
          </a:ln>
        </p:spPr>
      </p:sp>
      <p:sp>
        <p:nvSpPr>
          <p:cNvPr id="12" name="Text 9"/>
          <p:cNvSpPr/>
          <p:nvPr/>
        </p:nvSpPr>
        <p:spPr>
          <a:xfrm>
            <a:off x="7086600" y="3713482"/>
            <a:ext cx="4421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DM Sans" pitchFamily="34" charset="0"/>
                <a:ea typeface="DM Sans" pitchFamily="34" charset="-122"/>
                <a:cs typeface="DM Sans" pitchFamily="34" charset="-120"/>
              </a:rPr>
              <a:t>C: fastest</a:t>
            </a:r>
            <a:endParaRPr lang="en-US" sz="1800" dirty="0"/>
          </a:p>
        </p:txBody>
      </p:sp>
      <p:sp>
        <p:nvSpPr>
          <p:cNvPr id="13" name="Text 10"/>
          <p:cNvSpPr/>
          <p:nvPr/>
        </p:nvSpPr>
        <p:spPr>
          <a:xfrm>
            <a:off x="7086600" y="4038600"/>
            <a:ext cx="44213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CEB"/>
                </a:solidFill>
                <a:latin typeface="DM Sans" pitchFamily="34" charset="0"/>
                <a:ea typeface="DM Sans" pitchFamily="34" charset="-122"/>
                <a:cs typeface="DM Sans" pitchFamily="34" charset="-120"/>
              </a:rPr>
              <a:t>Shortest cycle time, highest cost.</a:t>
            </a:r>
            <a:endParaRPr lang="en-US" sz="1400" dirty="0"/>
          </a:p>
        </p:txBody>
      </p:sp>
      <p:sp>
        <p:nvSpPr>
          <p:cNvPr id="14" name="Text 11"/>
          <p:cNvSpPr/>
          <p:nvPr/>
        </p:nvSpPr>
        <p:spPr>
          <a:xfrm>
            <a:off x="7086600" y="4465321"/>
            <a:ext cx="442137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C"/>
                </a:solidFill>
                <a:latin typeface="DM Sans" pitchFamily="34" charset="0"/>
                <a:ea typeface="DM Sans" pitchFamily="34" charset="-122"/>
                <a:cs typeface="DM Sans" pitchFamily="34" charset="-120"/>
              </a:rPr>
              <a:t>The optimiser returns the whole set. The decision maker picks the point that fits the budget.</a:t>
            </a:r>
            <a:endParaRPr lang="en-US" sz="1500" dirty="0"/>
          </a:p>
        </p:txBody>
      </p:sp>
      <p:sp>
        <p:nvSpPr>
          <p:cNvPr id="15"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8"/>
                </a:solidFill>
                <a:latin typeface="DM Sans" pitchFamily="34" charset="0"/>
                <a:ea typeface="DM Sans" pitchFamily="34" charset="-122"/>
                <a:cs typeface="DM Sans" pitchFamily="34" charset="-120"/>
              </a:rPr>
              <a:t>Illustrative sketch of the idea, not measured results · BPM evaluation · 5 / 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2410C"/>
                </a:solidFill>
                <a:latin typeface="DM Sans" pitchFamily="34" charset="0"/>
                <a:ea typeface="DM Sans" pitchFamily="34" charset="-122"/>
                <a:cs typeface="DM Sans" pitchFamily="34" charset="-120"/>
              </a:rPr>
              <a:t>RELATED RESEARCH</a:t>
            </a:r>
            <a:endParaRPr lang="en-US" sz="1400" dirty="0"/>
          </a:p>
        </p:txBody>
      </p:sp>
      <p:sp>
        <p:nvSpPr>
          <p:cNvPr id="3" name="Text 1"/>
          <p:cNvSpPr/>
          <p:nvPr>
            <p:ph type="title"/>
          </p:nvPr>
        </p:nvSpPr>
        <p:spPr>
          <a:xfrm>
            <a:off x="812800" y="123952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DM Sans" pitchFamily="34" charset="0"/>
                <a:ea typeface="DM Sans" pitchFamily="34" charset="-122"/>
                <a:cs typeface="DM Sans" pitchFamily="34" charset="-120"/>
              </a:rPr>
              <a:t>Papers linked to the problem statement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8642"/>
          <a:ext cx="10556240" cy="1960880"/>
        </p:xfrm>
        <a:graphic>
          <a:graphicData uri="http://schemas.openxmlformats.org/drawingml/2006/table">
            <a:tbl>
              <a:tblPr/>
              <a:tblGrid>
                <a:gridCol w="4644746"/>
                <a:gridCol w="2111248"/>
                <a:gridCol w="3800246"/>
              </a:tblGrid>
              <a:tr h="330200">
                <a:tc>
                  <a:txBody>
                    <a:bodyPr/>
                    <a:lstStyle/>
                    <a:p>
                      <a:pPr indent="0" marL="0">
                        <a:lnSpc>
                          <a:spcPts val="1680"/>
                        </a:lnSpc>
                        <a:buNone/>
                      </a:pPr>
                      <a:r>
                        <a:rPr lang="en-US" sz="1200" b="1" dirty="0">
                          <a:solidFill>
                            <a:srgbClr val="14213D"/>
                          </a:solidFill>
                          <a:latin typeface="DM Sans" pitchFamily="34" charset="0"/>
                          <a:ea typeface="DM Sans" pitchFamily="34" charset="-122"/>
                          <a:cs typeface="DM Sans" pitchFamily="34" charset="-120"/>
                        </a:rPr>
                        <a:t>Paper</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680"/>
                        </a:lnSpc>
                        <a:buNone/>
                      </a:pPr>
                      <a:r>
                        <a:rPr lang="en-US" sz="1200" b="1" dirty="0">
                          <a:solidFill>
                            <a:srgbClr val="14213D"/>
                          </a:solidFill>
                          <a:latin typeface="DM Sans" pitchFamily="34" charset="0"/>
                          <a:ea typeface="DM Sans" pitchFamily="34" charset="-122"/>
                          <a:cs typeface="DM Sans" pitchFamily="34" charset="-120"/>
                        </a:rPr>
                        <a:t>Venue, year</a:t>
                      </a:r>
                      <a:endParaRPr lang="en-US" sz="1200" dirty="0">
                        <a:latin typeface="DM Sans" charset="0"/>
                        <a:ea typeface="DM Sans" charset="0"/>
                        <a:cs typeface="DM Sans" charset="0"/>
                      </a:endParaRPr>
                    </a:p>
                  </a:txBody>
                  <a:tcPr marL="53340" marR="53340" marT="53340" marB="5334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680"/>
                        </a:lnSpc>
                        <a:buNone/>
                      </a:pPr>
                      <a:r>
                        <a:rPr lang="en-US" sz="1200" b="1" dirty="0">
                          <a:solidFill>
                            <a:srgbClr val="14213D"/>
                          </a:solidFill>
                          <a:latin typeface="DM Sans" pitchFamily="34" charset="0"/>
                          <a:ea typeface="DM Sans" pitchFamily="34" charset="-122"/>
                          <a:cs typeface="DM Sans" pitchFamily="34" charset="-120"/>
                        </a:rPr>
                        <a:t>What it contributes</a:t>
                      </a:r>
                      <a:endParaRPr lang="en-US" sz="1200" dirty="0">
                        <a:latin typeface="DM Sans" charset="0"/>
                        <a:ea typeface="DM Sans" charset="0"/>
                        <a:cs typeface="DM Sans" charset="0"/>
                      </a:endParaRPr>
                    </a:p>
                  </a:txBody>
                  <a:tcPr marL="53340" marR="53340" marT="53340" marB="5334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54356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Automatic Resource Allocation in Business Processes: A Systematic Literature Survey</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arXiv, 2021</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Maps goals and methods; rule-based approaches dominate</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Discovering optimal resource allocations for what-if scenarios using data-driven simulation</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Frontiers in Comp. Sci., 2023</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Event logs, simulation and NSGA-II multi-objective search</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Optimos: A Tool for Simulation-Driven Business Process Optimization</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CEUR-WS Vol. 3758</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Explores allocations and timetables under user constraints</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DM Sans" pitchFamily="34" charset="0"/>
                <a:ea typeface="DM Sans" pitchFamily="34" charset="-122"/>
                <a:cs typeface="DM Sans" pitchFamily="34" charset="-120"/>
              </a:rPr>
              <a:t>Our approach builds on these: simulation plus multi-objective search · BPM evaluation · 6 /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2410C"/>
                </a:solidFill>
                <a:latin typeface="DM Sans" pitchFamily="34" charset="0"/>
                <a:ea typeface="DM Sans" pitchFamily="34" charset="-122"/>
                <a:cs typeface="DM Sans" pitchFamily="34" charset="-120"/>
              </a:rPr>
              <a:t>PROGRESS AND NEXT STEPS</a:t>
            </a:r>
            <a:endParaRPr lang="en-US" sz="1400" dirty="0"/>
          </a:p>
        </p:txBody>
      </p:sp>
      <p:sp>
        <p:nvSpPr>
          <p:cNvPr id="3" name="Text 1"/>
          <p:cNvSpPr/>
          <p:nvPr>
            <p:ph type="title"/>
          </p:nvPr>
        </p:nvSpPr>
        <p:spPr>
          <a:xfrm>
            <a:off x="812800" y="129032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DM Sans" pitchFamily="34" charset="0"/>
                <a:ea typeface="DM Sans" pitchFamily="34" charset="-122"/>
                <a:cs typeface="DM Sans" pitchFamily="34" charset="-120"/>
              </a:rPr>
              <a:t>Where the project stands</a:t>
            </a:r>
            <a:endParaRPr lang="en-US" sz="2800" dirty="0"/>
          </a:p>
        </p:txBody>
      </p:sp>
      <p:sp>
        <p:nvSpPr>
          <p:cNvPr id="4" name="Shape 2"/>
          <p:cNvSpPr/>
          <p:nvPr/>
        </p:nvSpPr>
        <p:spPr>
          <a:xfrm>
            <a:off x="815975" y="1913257"/>
            <a:ext cx="3380264" cy="2447290"/>
          </a:xfrm>
          <a:prstGeom prst="roundRect">
            <a:avLst>
              <a:gd name="adj" fmla="val 4022"/>
            </a:avLst>
          </a:prstGeom>
          <a:solidFill>
            <a:srgbClr val="FDFBF7"/>
          </a:solidFill>
          <a:ln w="6350">
            <a:solidFill>
              <a:srgbClr val="E4DFD3"/>
            </a:solidFill>
            <a:prstDash val="solid"/>
          </a:ln>
        </p:spPr>
      </p:sp>
      <p:sp>
        <p:nvSpPr>
          <p:cNvPr id="5" name="Text 3"/>
          <p:cNvSpPr/>
          <p:nvPr/>
        </p:nvSpPr>
        <p:spPr>
          <a:xfrm>
            <a:off x="1071880" y="2169161"/>
            <a:ext cx="731996" cy="314960"/>
          </a:xfrm>
          <a:prstGeom prst="roundRect">
            <a:avLst>
              <a:gd name="adj" fmla="val 16129"/>
            </a:avLst>
          </a:prstGeom>
          <a:solidFill>
            <a:srgbClr val="14213D"/>
          </a:solidFill>
          <a:ln/>
        </p:spPr>
        <p:txBody>
          <a:bodyPr wrap="none" lIns="0" tIns="0" rIns="0" bIns="0" rtlCol="0" anchor="ctr">
            <a:normAutofit/>
          </a:bodyPr>
          <a:lstStyle/>
          <a:p>
            <a:pPr algn="ctr" indent="0" marL="0">
              <a:lnSpc>
                <a:spcPts val="1680"/>
              </a:lnSpc>
              <a:buNone/>
            </a:pPr>
            <a:r>
              <a:rPr lang="en-US" sz="1200" b="1" spc="100" kern="0" dirty="0">
                <a:solidFill>
                  <a:srgbClr val="F6F3EC"/>
                </a:solidFill>
                <a:latin typeface="DM Sans" pitchFamily="34" charset="0"/>
                <a:ea typeface="DM Sans" pitchFamily="34" charset="-122"/>
                <a:cs typeface="DM Sans" pitchFamily="34" charset="-120"/>
              </a:rPr>
              <a:t>DONE</a:t>
            </a:r>
            <a:endParaRPr lang="en-US" sz="1200" dirty="0"/>
          </a:p>
        </p:txBody>
      </p:sp>
      <p:sp>
        <p:nvSpPr>
          <p:cNvPr id="6" name="Text 4"/>
          <p:cNvSpPr/>
          <p:nvPr/>
        </p:nvSpPr>
        <p:spPr>
          <a:xfrm>
            <a:off x="1156462" y="2611121"/>
            <a:ext cx="2862305" cy="1518920"/>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Problem scoped, with objectives and constraints</a:t>
            </a:r>
            <a:endParaRPr lang="en-US" sz="1400" dirty="0"/>
          </a:p>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Literature surveyed, 3 key papers mapped</a:t>
            </a:r>
            <a:endParaRPr lang="en-US" sz="1400" dirty="0"/>
          </a:p>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Method chosen: BPMN, simulation, NSGA-II</a:t>
            </a:r>
            <a:endParaRPr lang="en-US" sz="1400" dirty="0"/>
          </a:p>
        </p:txBody>
      </p:sp>
      <p:sp>
        <p:nvSpPr>
          <p:cNvPr id="7" name="Shape 5"/>
          <p:cNvSpPr/>
          <p:nvPr/>
        </p:nvSpPr>
        <p:spPr>
          <a:xfrm>
            <a:off x="4405789" y="1913257"/>
            <a:ext cx="3380343" cy="2447290"/>
          </a:xfrm>
          <a:prstGeom prst="roundRect">
            <a:avLst>
              <a:gd name="adj" fmla="val 4022"/>
            </a:avLst>
          </a:prstGeom>
          <a:solidFill>
            <a:srgbClr val="FDFBF7"/>
          </a:solidFill>
          <a:ln w="6350">
            <a:solidFill>
              <a:srgbClr val="E4DFD3"/>
            </a:solidFill>
            <a:prstDash val="solid"/>
          </a:ln>
        </p:spPr>
      </p:sp>
      <p:sp>
        <p:nvSpPr>
          <p:cNvPr id="8" name="Text 6"/>
          <p:cNvSpPr/>
          <p:nvPr/>
        </p:nvSpPr>
        <p:spPr>
          <a:xfrm>
            <a:off x="4661694" y="2169161"/>
            <a:ext cx="698024" cy="314960"/>
          </a:xfrm>
          <a:prstGeom prst="roundRect">
            <a:avLst>
              <a:gd name="adj" fmla="val 16129"/>
            </a:avLst>
          </a:prstGeom>
          <a:solidFill>
            <a:srgbClr val="C2410C"/>
          </a:solidFill>
          <a:ln/>
        </p:spPr>
        <p:txBody>
          <a:bodyPr wrap="none" lIns="0" tIns="0" rIns="0" bIns="0" rtlCol="0" anchor="ctr">
            <a:normAutofit/>
          </a:bodyPr>
          <a:lstStyle/>
          <a:p>
            <a:pPr algn="ctr" indent="0" marL="0">
              <a:lnSpc>
                <a:spcPts val="1680"/>
              </a:lnSpc>
              <a:buNone/>
            </a:pPr>
            <a:r>
              <a:rPr lang="en-US" sz="1200" b="1" spc="100" kern="0" dirty="0">
                <a:solidFill>
                  <a:srgbClr val="FFF7ED"/>
                </a:solidFill>
                <a:latin typeface="DM Sans" pitchFamily="34" charset="0"/>
                <a:ea typeface="DM Sans" pitchFamily="34" charset="-122"/>
                <a:cs typeface="DM Sans" pitchFamily="34" charset="-120"/>
              </a:rPr>
              <a:t>NEXT</a:t>
            </a:r>
            <a:endParaRPr lang="en-US" sz="1200" dirty="0"/>
          </a:p>
        </p:txBody>
      </p:sp>
      <p:sp>
        <p:nvSpPr>
          <p:cNvPr id="9" name="Text 7"/>
          <p:cNvSpPr/>
          <p:nvPr/>
        </p:nvSpPr>
        <p:spPr>
          <a:xfrm>
            <a:off x="4746276" y="2611121"/>
            <a:ext cx="2862387" cy="1270000"/>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Model a toy process, such as loan approval</a:t>
            </a:r>
            <a:endParaRPr lang="en-US" sz="1400" dirty="0"/>
          </a:p>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Write a small simulator in C++</a:t>
            </a:r>
            <a:endParaRPr lang="en-US" sz="1400" dirty="0"/>
          </a:p>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Try resource allocations on the toy process</a:t>
            </a:r>
            <a:endParaRPr lang="en-US" sz="1400" dirty="0"/>
          </a:p>
        </p:txBody>
      </p:sp>
      <p:sp>
        <p:nvSpPr>
          <p:cNvPr id="10" name="Shape 8"/>
          <p:cNvSpPr/>
          <p:nvPr/>
        </p:nvSpPr>
        <p:spPr>
          <a:xfrm>
            <a:off x="7995682" y="1913257"/>
            <a:ext cx="3380343" cy="2447290"/>
          </a:xfrm>
          <a:prstGeom prst="roundRect">
            <a:avLst>
              <a:gd name="adj" fmla="val 4022"/>
            </a:avLst>
          </a:prstGeom>
          <a:solidFill>
            <a:srgbClr val="FDFBF7"/>
          </a:solidFill>
          <a:ln w="6350">
            <a:solidFill>
              <a:srgbClr val="E4DFD3"/>
            </a:solidFill>
            <a:prstDash val="solid"/>
          </a:ln>
        </p:spPr>
      </p:sp>
      <p:sp>
        <p:nvSpPr>
          <p:cNvPr id="11" name="Text 9"/>
          <p:cNvSpPr/>
          <p:nvPr/>
        </p:nvSpPr>
        <p:spPr>
          <a:xfrm>
            <a:off x="8251587" y="2169161"/>
            <a:ext cx="775414" cy="314960"/>
          </a:xfrm>
          <a:prstGeom prst="roundRect">
            <a:avLst>
              <a:gd name="adj" fmla="val 16129"/>
            </a:avLst>
          </a:prstGeom>
          <a:solidFill>
            <a:srgbClr val="E4DFD3"/>
          </a:solidFill>
          <a:ln/>
        </p:spPr>
        <p:txBody>
          <a:bodyPr wrap="none" lIns="0" tIns="0" rIns="0" bIns="0" rtlCol="0" anchor="ctr">
            <a:normAutofit/>
          </a:bodyPr>
          <a:lstStyle/>
          <a:p>
            <a:pPr algn="ctr" indent="0" marL="0">
              <a:lnSpc>
                <a:spcPts val="1680"/>
              </a:lnSpc>
              <a:buNone/>
            </a:pPr>
            <a:r>
              <a:rPr lang="en-US" sz="1200" b="1" spc="100" kern="0" dirty="0">
                <a:solidFill>
                  <a:srgbClr val="14213D"/>
                </a:solidFill>
                <a:latin typeface="DM Sans" pitchFamily="34" charset="0"/>
                <a:ea typeface="DM Sans" pitchFamily="34" charset="-122"/>
                <a:cs typeface="DM Sans" pitchFamily="34" charset="-120"/>
              </a:rPr>
              <a:t>LATER</a:t>
            </a:r>
            <a:endParaRPr lang="en-US" sz="1200" dirty="0"/>
          </a:p>
        </p:txBody>
      </p:sp>
      <p:sp>
        <p:nvSpPr>
          <p:cNvPr id="12" name="Text 10"/>
          <p:cNvSpPr/>
          <p:nvPr/>
        </p:nvSpPr>
        <p:spPr>
          <a:xfrm>
            <a:off x="8336169" y="2611121"/>
            <a:ext cx="2862387" cy="1270000"/>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Run NSGA-II to get the Pareto set</a:t>
            </a:r>
            <a:endParaRPr lang="en-US" sz="1400" dirty="0"/>
          </a:p>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Extend to a real event log</a:t>
            </a:r>
            <a:endParaRPr lang="en-US" sz="1400" dirty="0"/>
          </a:p>
          <a:p>
            <a:pPr algn="l" marL="169418" indent="-169418">
              <a:lnSpc>
                <a:spcPts val="1960"/>
              </a:lnSpc>
              <a:buSzPct val="100000"/>
              <a:buChar char="•"/>
            </a:pPr>
            <a:r>
              <a:rPr lang="en-US" sz="1400" dirty="0">
                <a:solidFill>
                  <a:srgbClr val="14213D"/>
                </a:solidFill>
                <a:latin typeface="DM Sans" pitchFamily="34" charset="0"/>
                <a:ea typeface="DM Sans" pitchFamily="34" charset="-122"/>
                <a:cs typeface="DM Sans" pitchFamily="34" charset="-120"/>
              </a:rPr>
              <a:t>Compare with hill climbing and reinforcement learning</a:t>
            </a:r>
            <a:endParaRPr lang="en-US" sz="1400" dirty="0"/>
          </a:p>
        </p:txBody>
      </p:sp>
      <p:sp>
        <p:nvSpPr>
          <p:cNvPr id="13" name="Text 11"/>
          <p:cNvSpPr/>
          <p:nvPr/>
        </p:nvSpPr>
        <p:spPr>
          <a:xfrm>
            <a:off x="812800" y="45923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The problem and method are settled. The next step is turning them into measured results.</a:t>
            </a:r>
            <a:endParaRPr lang="en-US" sz="16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DM Sans" pitchFamily="34" charset="0"/>
                <a:ea typeface="DM Sans" pitchFamily="34" charset="-122"/>
                <a:cs typeface="DM Sans" pitchFamily="34" charset="-120"/>
              </a:rPr>
              <a:t>BPM evaluation · 7 / 7</a:t>
            </a:r>
            <a:endParaRPr lang="en-US" sz="1200" dirty="0"/>
          </a:p>
        </p:txBody>
      </p:sp>
    </p:spTree>
  </p:cSld>
  <p:clrMapOvr>
    <a:masterClrMapping/>
  </p:clrMapOvr>
</p:sld>
</file>

<file path=ppt/theme/theme1.xml><?xml version="1.0" encoding="utf-8"?>
<a:theme xmlns:a="http://schemas.openxmlformats.org/drawingml/2006/main" name="BPM: Optimization under Resource Constraints">
  <a:themeElements>
    <a:clrScheme name="BPM: Optimization under Resource Constraints">
      <a:dk1>
        <a:srgbClr val="14213D"/>
      </a:dk1>
      <a:lt1>
        <a:srgbClr val="F6F3EC"/>
      </a:lt1>
      <a:dk2>
        <a:srgbClr val="4D5669"/>
      </a:dk2>
      <a:lt2>
        <a:srgbClr val="DFDEDB"/>
      </a:lt2>
      <a:accent1>
        <a:srgbClr val="F59E6B"/>
      </a:accent1>
      <a:accent2>
        <a:srgbClr val="C2410C"/>
      </a:accent2>
      <a:accent3>
        <a:srgbClr val="4A5568"/>
      </a:accent3>
      <a:accent4>
        <a:srgbClr val="D5DCEB"/>
      </a:accent4>
      <a:accent5>
        <a:srgbClr val="5B6270"/>
      </a:accent5>
      <a:accent6>
        <a:srgbClr val="B8C2D8"/>
      </a:accent6>
      <a:hlink>
        <a:srgbClr val="0563C1"/>
      </a:hlink>
      <a:folHlink>
        <a:srgbClr val="954F72"/>
      </a:folHlink>
    </a:clrScheme>
    <a:fontScheme name="BPM: Optimization under Resource Constraint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BPM: Optimization under Resource Constraints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2026-10-28T16:02:30Z</dcterms:created>
  <dcterms:modified xsi:type="dcterms:W3CDTF">2026-10-28T16:02:30Z</dcterms:modified>
</cp:coreProperties>
</file>